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3B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5156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FIAP · NAVEGANDO PELO MUNDO DEVOPS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498079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Cidades ESGInteligentes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72237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CFE5E1"/>
                </a:solidFill>
                <a:latin typeface="Arial"/>
              </a:rPr>
              <a:t>Orbital SOS API: containerização, pipeline CI/CD e deploy em staging e produção</a:t>
            </a:r>
          </a:p>
        </p:txBody>
      </p:sp>
      <p:sp>
        <p:nvSpPr>
          <p:cNvPr id="5" name="Integrantes"/>
          <p:cNvSpPr/>
          <p:nvPr/>
        </p:nvSpPr>
        <p:spPr>
          <a:xfrm>
            <a:off x="731520" y="3977639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16052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INTEGRANTES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26280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[PREENCHA COM OS NOMES E RMs]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978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Outubro de 2026 · github.com/vsilva1997/orbital-sos-api</a:t>
            </a:r>
          </a:p>
        </p:txBody>
      </p:sp>
      <p:sp>
        <p:nvSpPr>
          <p:cNvPr id="9" name="Órbita"/>
          <p:cNvSpPr/>
          <p:nvPr/>
        </p:nvSpPr>
        <p:spPr>
          <a:xfrm>
            <a:off x="8549640" y="1417320"/>
            <a:ext cx="3017520" cy="3017520"/>
          </a:xfrm>
          <a:prstGeom prst="ellipse">
            <a:avLst/>
          </a:prstGeom>
          <a:noFill/>
          <a:ln w="50800">
            <a:solidFill>
              <a:srgbClr val="155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atélite"/>
          <p:cNvSpPr/>
          <p:nvPr/>
        </p:nvSpPr>
        <p:spPr>
          <a:xfrm>
            <a:off x="11155680" y="1874519"/>
            <a:ext cx="457200" cy="457200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OS"/>
          <p:cNvSpPr/>
          <p:nvPr/>
        </p:nvSpPr>
        <p:spPr>
          <a:xfrm>
            <a:off x="9372600" y="22402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E3B43"/>
                </a:solidFill>
                <a:latin typeface="Arial"/>
              </a:rPr>
              <a:t>SOS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CONTEXTO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Conectando vítimas de desastres climáticos à ajuda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9436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1E2B2F"/>
                </a:solidFill>
                <a:latin typeface="Arial"/>
              </a:rPr>
              <a:t>A Orbital SOS API é o componente social do projeto Cidades ESGInteligentes: cadastra abrigos, alertas climáticos, áreas de risco, pedidos de socorro (SOS) e doações.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5943600" cy="3017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.NET 8 em Clean Architecture: API, Application, Domain e Infrastructure</a:t>
            </a:r>
          </a:p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EF Core 8 com SQL Server, autenticação JWT e Swagger</a:t>
            </a:r>
          </a:p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Objetivo desta entrega: levar a API do código ao ar com Docker, pipeline CI/CD e dois ambientes na nuvem</a:t>
            </a:r>
          </a:p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Tudo versionado no GitHub: código, Dockerfile, compose, pipeline e infraestrutura (render.yaml)</a:t>
            </a:r>
          </a:p>
        </p:txBody>
      </p:sp>
      <p:sp>
        <p:nvSpPr>
          <p:cNvPr id="6" name="Indicador 14"/>
          <p:cNvSpPr/>
          <p:nvPr/>
        </p:nvSpPr>
        <p:spPr>
          <a:xfrm>
            <a:off x="6949440" y="1508760"/>
            <a:ext cx="4663440" cy="1234440"/>
          </a:xfrm>
          <a:prstGeom prst="roundRect">
            <a:avLst>
              <a:gd name="adj" fmla="val 888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78040" y="1664207"/>
            <a:ext cx="118872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E8572A"/>
                </a:solidFill>
                <a:latin typeface="Arial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664207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E2B2F"/>
                </a:solidFill>
                <a:latin typeface="Arial"/>
              </a:rPr>
              <a:t>testes automatizados rodando em todo pull request</a:t>
            </a:r>
          </a:p>
        </p:txBody>
      </p:sp>
      <p:sp>
        <p:nvSpPr>
          <p:cNvPr id="9" name="Indicador 5"/>
          <p:cNvSpPr/>
          <p:nvPr/>
        </p:nvSpPr>
        <p:spPr>
          <a:xfrm>
            <a:off x="6949440" y="3017520"/>
            <a:ext cx="4663440" cy="1234440"/>
          </a:xfrm>
          <a:prstGeom prst="roundRect">
            <a:avLst>
              <a:gd name="adj" fmla="val 888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78040" y="3172968"/>
            <a:ext cx="118872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E8572A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3172968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E2B2F"/>
                </a:solidFill>
                <a:latin typeface="Arial"/>
              </a:rPr>
              <a:t>jobs no pipeline do GitHub Actions</a:t>
            </a:r>
          </a:p>
        </p:txBody>
      </p:sp>
      <p:sp>
        <p:nvSpPr>
          <p:cNvPr id="12" name="Indicador 2"/>
          <p:cNvSpPr/>
          <p:nvPr/>
        </p:nvSpPr>
        <p:spPr>
          <a:xfrm>
            <a:off x="6949440" y="4526279"/>
            <a:ext cx="4663440" cy="1234440"/>
          </a:xfrm>
          <a:prstGeom prst="roundRect">
            <a:avLst>
              <a:gd name="adj" fmla="val 888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4681727"/>
            <a:ext cx="118872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E8572A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4681727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E2B2F"/>
                </a:solidFill>
                <a:latin typeface="Arial"/>
              </a:rPr>
              <a:t>ambientes na nuvem: staging e produção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PIPELINE CI/CD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Do pull request à produção com GitHub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Staging: branch develop, deploy automático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feature/devops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branch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42316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50592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Pull request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build · testes · compose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41648" y="242316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52544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develop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merge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0" y="242316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54496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Imagem :sha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push no GHCR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45551" y="2423160"/>
            <a:ext cx="2176273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058400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Deploy staging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smoke /health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19659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automático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5760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Produção: branch main, com aprovação manual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develop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branch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39696" y="457200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450592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Pull request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build · testes · compose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41648" y="457200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52544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main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merge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43600" y="457200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54496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Imagem :sha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push no GHCR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45551" y="4572000"/>
            <a:ext cx="274321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56448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Aprovação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environment production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747503" y="4572000"/>
            <a:ext cx="274321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058400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Deploy produção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smoke /health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Ferramenta: </a:t>
            </a:r>
            <a:r>
              <a:rPr sz="1500" b="0" i="0">
                <a:solidFill>
                  <a:srgbClr val="1E2B2F"/>
                </a:solidFill>
                <a:latin typeface="Arial"/>
              </a:rPr>
              <a:t>GitHub Actions   ·   </a:t>
            </a:r>
            <a:r>
              <a:rPr sz="1500" b="1" i="0">
                <a:solidFill>
                  <a:srgbClr val="1E2B2F"/>
                </a:solidFill>
                <a:latin typeface="Arial"/>
              </a:rPr>
              <a:t>Registro: </a:t>
            </a:r>
            <a:r>
              <a:rPr sz="1500" b="0" i="0">
                <a:solidFill>
                  <a:srgbClr val="1E2B2F"/>
                </a:solidFill>
                <a:latin typeface="Arial"/>
              </a:rPr>
              <a:t>GitHub Container Registry   ·   </a:t>
            </a:r>
            <a:r>
              <a:rPr sz="1500" b="1" i="0">
                <a:solidFill>
                  <a:srgbClr val="1E2B2F"/>
                </a:solidFill>
                <a:latin typeface="Arial"/>
              </a:rPr>
              <a:t>Hospedagem: </a:t>
            </a:r>
            <a:r>
              <a:rPr sz="1500" b="0" i="0">
                <a:solidFill>
                  <a:srgbClr val="1E2B2F"/>
                </a:solidFill>
                <a:latin typeface="Arial"/>
              </a:rPr>
              <a:t>Render + Azure SQL Database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PIPELINE CI/CD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Cinco jobs, cada um com uma responsabilidade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2331720"/>
                <a:gridCol w="6583680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Job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Quando roda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O que faz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build-test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PR e push em develop/main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Restore com lock file e cache do NuGet, build Release, testes xUnit (resultado .trx como artefato) e checagem de pacotes vulneráveis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compose-smoke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PR e push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Valida os 3 arquivos compose, sobe API + SQL Server 2022 e testa health, swagger, register, login e admin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docker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Só em push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Build multi-stage com cache e push de ghcr.io/vsilva1997/orbital-sos-api:&lt;sha&gt;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deploy-staging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Push em develop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Deploy hook do Render com a imagem do SHA; espera o /health responder Healthy na versão nova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deploy-production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Push em main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Mesmo deploy, depois da aprovação manual no environment production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Lógica do pipeline"/>
          <p:cNvSpPr/>
          <p:nvPr/>
        </p:nvSpPr>
        <p:spPr>
          <a:xfrm>
            <a:off x="548640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513832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Lógica: </a:t>
            </a:r>
            <a:r>
              <a:rPr sz="1400" b="0" i="0">
                <a:solidFill>
                  <a:srgbClr val="1E2B2F"/>
                </a:solidFill>
                <a:latin typeface="Arial"/>
              </a:rPr>
              <a:t>o PR só valida. Depois do merge, a imagem é gerada uma vez por commit (tag = SHA) e o /health devolve essa versão: o smoke test só passa quando o deploy certo está no 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DOCKER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A mesma imagem roda no compose local e na nuvem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Local: docker compose</a:t>
            </a:r>
          </a:p>
        </p:txBody>
      </p:sp>
      <p:sp>
        <p:nvSpPr>
          <p:cNvPr id="5" name="Rede orbital-net"/>
          <p:cNvSpPr/>
          <p:nvPr/>
        </p:nvSpPr>
        <p:spPr>
          <a:xfrm>
            <a:off x="548640" y="1783080"/>
            <a:ext cx="5486400" cy="4343400"/>
          </a:xfrm>
          <a:prstGeom prst="roundRect">
            <a:avLst>
              <a:gd name="adj" fmla="val 3157"/>
            </a:avLst>
          </a:prstGeom>
          <a:noFill/>
          <a:ln w="15875">
            <a:solidFill>
              <a:srgbClr val="8FB3A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Courier New"/>
              </a:rPr>
              <a:t>rede orbital-net (bridge)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2240280" cy="1417320"/>
          </a:xfrm>
          <a:prstGeom prst="roundRect">
            <a:avLst>
              <a:gd name="adj" fmla="val 7741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api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OrbitalSOS.API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porta 8080 · usuário app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HEALTHCHECK /health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2286000"/>
            <a:ext cx="2240280" cy="1417320"/>
          </a:xfrm>
          <a:prstGeom prst="roundRect">
            <a:avLst>
              <a:gd name="adj" fmla="val 7741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db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SQL Server 2022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healthcheck sqlcmd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(mssql-tools18 -C)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44952" y="2990088"/>
            <a:ext cx="493776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103120" y="3840480"/>
            <a:ext cx="237744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depends_on: db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service_healthy</a:t>
            </a:r>
          </a:p>
        </p:txBody>
      </p:sp>
      <p:sp>
        <p:nvSpPr>
          <p:cNvPr id="11" name="Host"/>
          <p:cNvSpPr/>
          <p:nvPr/>
        </p:nvSpPr>
        <p:spPr>
          <a:xfrm>
            <a:off x="777240" y="4434840"/>
            <a:ext cx="2240280" cy="960120"/>
          </a:xfrm>
          <a:prstGeom prst="roundRect">
            <a:avLst>
              <a:gd name="adj" fmla="val 1142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498848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E2B2F"/>
                </a:solidFill>
                <a:latin typeface="Arial"/>
              </a:rPr>
              <a:t>localhost:8080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E2B2F"/>
                </a:solidFill>
                <a:latin typeface="Arial"/>
              </a:rPr>
              <a:t>Swagger e /health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897380" y="3730752"/>
            <a:ext cx="0" cy="67665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Volume mssql-data"/>
          <p:cNvSpPr/>
          <p:nvPr/>
        </p:nvSpPr>
        <p:spPr>
          <a:xfrm>
            <a:off x="3840480" y="4343400"/>
            <a:ext cx="1691640" cy="1143000"/>
          </a:xfrm>
          <a:prstGeom prst="can">
            <a:avLst/>
          </a:prstGeom>
          <a:solidFill>
            <a:srgbClr val="E8F3F1"/>
          </a:solidFill>
          <a:ln w="15875">
            <a:solidFill>
              <a:srgbClr val="8FB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0" y="4681728"/>
            <a:ext cx="169164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E2B2F"/>
                </a:solidFill>
                <a:latin typeface="Arial"/>
              </a:rPr>
              <a:t>mssql-data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/var/opt/mssql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686300" y="3730752"/>
            <a:ext cx="0" cy="58521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92240" y="1371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Nuvem: staging e produção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178308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ghcr.io/vsilva1997/orbital-sos-api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tags :&lt;sha&gt; · :develop · :main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3200400"/>
            <a:ext cx="2423160" cy="1097280"/>
          </a:xfrm>
          <a:prstGeom prst="roundRect">
            <a:avLst>
              <a:gd name="adj" fmla="val 10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Render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Web Service Free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ambiente Staging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846320"/>
            <a:ext cx="242316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Azure SQL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orbitalsos-staging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free offer (serverless)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03819" y="2724912"/>
            <a:ext cx="0" cy="44805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703819" y="4325112"/>
            <a:ext cx="0" cy="49377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89720" y="3200400"/>
            <a:ext cx="2423160" cy="1097280"/>
          </a:xfrm>
          <a:prstGeom prst="roundRect">
            <a:avLst>
              <a:gd name="adj" fmla="val 10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Render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Web Service Free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ambiente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4846320"/>
            <a:ext cx="242316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Azure SQL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orbitalsos-prod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free offer (serverless)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401300" y="2724912"/>
            <a:ext cx="0" cy="44805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401300" y="4325112"/>
            <a:ext cx="0" cy="49377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DOCKER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Imagem enxuta, sem root e com health check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508760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Multi-stage sdk:8.0 → aspnet:8.0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O SDK fica só no build; a imagem final leva apenas o runtime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423160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3774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Restore em camada separada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csproj e lock files primeiro: mudar código não baixa os pacotes de novo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337560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918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Usuário não root e porta 8080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Padrão do .NET 8 (USER app); antes rodava como root na porta 80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251959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2062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HEALTHCHECK em /health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curl instalado só para isso; o /health testa a API e o banco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166359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1206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APP_VERSION = SHA do commit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Aparece no /health e o smoke test confere a versão no ar</a:t>
            </a:r>
          </a:p>
        </p:txBody>
      </p:sp>
      <p:sp>
        <p:nvSpPr>
          <p:cNvPr id="14" name="Imagem criada"/>
          <p:cNvSpPr/>
          <p:nvPr/>
        </p:nvSpPr>
        <p:spPr>
          <a:xfrm>
            <a:off x="6675120" y="1463040"/>
            <a:ext cx="4937760" cy="1280160"/>
          </a:xfrm>
          <a:prstGeom prst="roundRect">
            <a:avLst>
              <a:gd name="adj" fmla="val 8571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554480"/>
            <a:ext cx="4572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Imagem criada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2B2F"/>
                </a:solidFill>
                <a:latin typeface="Courier New"/>
              </a:rPr>
              <a:t>ghcr.io/vsilva1997/orbital-sos-api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:&lt;sha&gt; (deploy) · :develop · :main</a:t>
            </a:r>
          </a:p>
        </p:txBody>
      </p:sp>
      <p:sp>
        <p:nvSpPr>
          <p:cNvPr id="16" name="Comandos"/>
          <p:cNvSpPr/>
          <p:nvPr/>
        </p:nvSpPr>
        <p:spPr>
          <a:xfrm>
            <a:off x="6675120" y="2971800"/>
            <a:ext cx="4937760" cy="3063240"/>
          </a:xfrm>
          <a:prstGeom prst="roundRect">
            <a:avLst>
              <a:gd name="adj" fmla="val 2985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3108960"/>
            <a:ext cx="4572000" cy="2834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8FC1B9"/>
                </a:solidFill>
                <a:latin typeface="Courier New"/>
              </a:rPr>
              <a:t># comandos usados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build -t orbital-sos-api:local 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up -d --build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ps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logs -f api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down -v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pull ghcr.io/vsilva1997/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  orbital-sos-api:main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8FC1B9"/>
                </a:solidFill>
                <a:latin typeface="Courier New"/>
              </a:rPr>
              <a:t># simular staging localmente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-f docker-compose.yml \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-f docker-compose.staging.yml up -d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PIPELINE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Build e testes validados em todo pull request</a:t>
            </a:r>
          </a:p>
        </p:txBody>
      </p:sp>
      <p:sp>
        <p:nvSpPr>
          <p:cNvPr id="4" name="Espaço para 01-pr-checks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01-pr-checks.png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PR feature/devops → develop com os checks verdes</a:t>
            </a:r>
          </a:p>
        </p:txBody>
      </p:sp>
      <p:sp>
        <p:nvSpPr>
          <p:cNvPr id="6" name="Espaço para 03-testes-resumo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03-testes-resumo.png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Resumo do job: 14/14 testes aprovados e artefato .trx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PIPELINE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Compose testado no CI e imagem publicada no GHCR</a:t>
            </a:r>
          </a:p>
        </p:txBody>
      </p:sp>
      <p:sp>
        <p:nvSpPr>
          <p:cNvPr id="4" name="Espaço para 04-compose-smoke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04-compose-smoke.png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Job compose-smoke: containers healthy e smoke test OK</a:t>
            </a:r>
          </a:p>
        </p:txBody>
      </p:sp>
      <p:sp>
        <p:nvSpPr>
          <p:cNvPr id="6" name="Espaço para 05-ghcr-imagem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05-ghcr-imagem.png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Pacote no GHCR com as tags do SHA, develop e 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DEPLOY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Cada merge publica no ambiente da sua branch</a:t>
            </a:r>
          </a:p>
        </p:txBody>
      </p:sp>
      <p:sp>
        <p:nvSpPr>
          <p:cNvPr id="4" name="Espaço para 02-pipeline-develop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02-pipeline-develop.png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Run da develop até o deploy em staging</a:t>
            </a:r>
          </a:p>
        </p:txBody>
      </p:sp>
      <p:sp>
        <p:nvSpPr>
          <p:cNvPr id="6" name="Espaço para 07-pipeline-main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07-pipeline-main.png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Run da main até o deploy em produção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DEPLOY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Produção só recebe deploy após aprovação manual</a:t>
            </a:r>
          </a:p>
        </p:txBody>
      </p:sp>
      <p:sp>
        <p:nvSpPr>
          <p:cNvPr id="4" name="Espaço para 06-aprovacao-producao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06-aprovacao-producao.png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Review deployments no environment production</a:t>
            </a:r>
          </a:p>
        </p:txBody>
      </p:sp>
      <p:sp>
        <p:nvSpPr>
          <p:cNvPr id="6" name="Espaço para 08-environments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08-environments.png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Environments com regras de branch e revisor obrigatório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STAGING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Staging no ar com a versão do último merge na develop</a:t>
            </a:r>
          </a:p>
        </p:txBody>
      </p:sp>
      <p:sp>
        <p:nvSpPr>
          <p:cNvPr id="4" name="Espaço para 09-staging-health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09-staging-health.png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/health de staging: Healthy, Staging e SHA do commit</a:t>
            </a:r>
          </a:p>
        </p:txBody>
      </p:sp>
      <p:sp>
        <p:nvSpPr>
          <p:cNvPr id="6" name="Espaço para 10-staging-swagger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10-staging-swagger.png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Swagger de staging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PRODUÇÃO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Produção no ar, com register e login funcionando</a:t>
            </a:r>
          </a:p>
        </p:txBody>
      </p:sp>
      <p:sp>
        <p:nvSpPr>
          <p:cNvPr id="4" name="Espaço para 11-producao-health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11-producao-health.png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/health de produção: Healthy e Production</a:t>
            </a:r>
          </a:p>
        </p:txBody>
      </p:sp>
      <p:sp>
        <p:nvSpPr>
          <p:cNvPr id="6" name="Espaço para 12-producao-swagger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12-producao-swagger.png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Register e login executados no Swagger de produção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NUVEM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Infraestrutura dos dois ambientes</a:t>
            </a:r>
          </a:p>
        </p:txBody>
      </p:sp>
      <p:sp>
        <p:nvSpPr>
          <p:cNvPr id="4" name="Espaço para 13-render-servicos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13-render-servicos.png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Render: serviços de staging e produção no ar</a:t>
            </a:r>
          </a:p>
        </p:txBody>
      </p:sp>
      <p:sp>
        <p:nvSpPr>
          <p:cNvPr id="6" name="Espaço para 14-azure-sql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14-azure-sql.png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Azure SQL: bancos de staging e produção (free offer)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DESAFIOS E SOLUÇÕES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Código: o projeto precisou de ajustes antes do pipeline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401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Desafio encontrado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Como foi resolvido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O projeto não compilava: faltava ImplicitUsings e a referência Application ↔ Infrastructure estava invertida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Habilitar ImplicitUsings e inverter a referência, sem mudar regra de negócio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Os 8 testes falhavam: Database.Migrate() não funciona com EF InMemory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Migrar só quando Database.IsRelational(); banco InMemory estável por factory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Senha do SA e chave JWT fixas no Git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Variáveis de ambiente (.env fora do Git, secrets no Render e no GitHub); valores antigos descartados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Qualquer pessoa podia se cadastrar como Admin (campo role no register)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Register sempre cria Usuario; Admin inicial via Admin__Email e Admin__Password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Pacotes com vulnerabilidades High (SqlClient, System.Text.Json)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Atualização para o patch 8.0.32 e checagem automática no pipeline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DESAFIOS E SOLUÇÕES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Infraestrutura: containers, CI e nuvem gratuita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9684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Desafio encontrado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Como foi resolvido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Healthcheck do banco quebrado: o sqlcmd mudou para mssql-tools18 e exige -C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Caminho novo com -C e depends_on com condition: service_healthy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Container rodando como root na porta 80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USER app e porta 8080, padrão do .NET 8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Mac Apple Silicon sem Docker e SQL Server só x86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Compose validado no runner x86 do GitHub Actions em todo PR (job compose-smoke)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Hospedar SQL Server (mínimo 2 GB, x86) sem custo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Render Free para a API + Azure SQL free offer: mesmo motor, sem trocar de banco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Cold start: o Render dorme e o Azure SQL pausa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EnableRetryOnFailure e smoke test com retry até o /health responder a versão do commit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ubuntu-latest migraria para Ubuntu 26 na semana da entrega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Runner fixado em ubuntu-24.04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ENTREGA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Checklist de entrega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852160"/>
                <a:gridCol w="1554480"/>
                <a:gridCol w="3657600"/>
              </a:tblGrid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Onde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Projeto compactado em .ZIP com estrutura organizada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scripts/empacotar.sh → entrega.zip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Dockerfile funcional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Dockerfile (validado no pipeline)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docker-compose.yml ou arquivos Kubernetes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docker-compose*.yml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Pipeline com etapas de build, teste e deploy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.github/workflows/ci-cd.yml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README.md com instruções e prints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8572A"/>
                          </a:solidFill>
                          <a:latin typeface="Arial"/>
                        </a:rPr>
                        <a:t>Pendente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README.md + docs/evidencias/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Documentação técnica com evidências (PDF ou PPT)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8572A"/>
                          </a:solidFill>
                          <a:latin typeface="Arial"/>
                        </a:rPr>
                        <a:t>Pendente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docs/Documentacao_DevOps.pptx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Deploy realizado nos ambientes staging e produção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8572A"/>
                          </a:solidFill>
                          <a:latin typeface="Arial"/>
                        </a:rPr>
                        <a:t>Pendente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Render + Azure SQL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3B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ONDE VER FUNCIONANDO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Versionado, testado e publicado automaticamente</a:t>
            </a:r>
          </a:p>
        </p:txBody>
      </p:sp>
      <p:sp>
        <p:nvSpPr>
          <p:cNvPr id="4" name="Link Repositório"/>
          <p:cNvSpPr/>
          <p:nvPr/>
        </p:nvSpPr>
        <p:spPr>
          <a:xfrm>
            <a:off x="731520" y="278892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9864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Repositório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89864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https://github.com/vsilva1997/orbital-sos-api</a:t>
            </a:r>
          </a:p>
        </p:txBody>
      </p:sp>
      <p:sp>
        <p:nvSpPr>
          <p:cNvPr id="7" name="Link Pipeline"/>
          <p:cNvSpPr/>
          <p:nvPr/>
        </p:nvSpPr>
        <p:spPr>
          <a:xfrm>
            <a:off x="731520" y="356616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675887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675887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https://github.com/vsilva1997/orbital-sos-api/actions</a:t>
            </a:r>
          </a:p>
        </p:txBody>
      </p:sp>
      <p:sp>
        <p:nvSpPr>
          <p:cNvPr id="10" name="Link Staging"/>
          <p:cNvSpPr/>
          <p:nvPr/>
        </p:nvSpPr>
        <p:spPr>
          <a:xfrm>
            <a:off x="731520" y="434340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45312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Staging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45312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https://orbital-sos-api-staging.onrender.com/swagger</a:t>
            </a:r>
          </a:p>
        </p:txBody>
      </p:sp>
      <p:sp>
        <p:nvSpPr>
          <p:cNvPr id="13" name="Link Produção"/>
          <p:cNvSpPr/>
          <p:nvPr/>
        </p:nvSpPr>
        <p:spPr>
          <a:xfrm>
            <a:off x="731520" y="512064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Produção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523036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https://orbital-sos-api-prod.onrender.com/swagger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