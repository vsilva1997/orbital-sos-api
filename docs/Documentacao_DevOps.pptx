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572A"/>
                </a:solidFill>
                <a:latin typeface="Arial"/>
              </a:rPr>
              <a:t>FIAP · NAVEGANDO PELO MUNDO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Cidades ESGInteligentes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2237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FE5E1"/>
                </a:solidFill>
                <a:latin typeface="Arial"/>
              </a:rPr>
              <a:t>Orbital SOS API: containerização, pipeline CI/CD e deploy em staging e produção</a:t>
            </a:r>
          </a:p>
        </p:txBody>
      </p:sp>
      <p:sp>
        <p:nvSpPr>
          <p:cNvPr id="5" name="Integrantes"/>
          <p:cNvSpPr/>
          <p:nvPr/>
        </p:nvSpPr>
        <p:spPr>
          <a:xfrm>
            <a:off x="731520" y="3977639"/>
            <a:ext cx="6949440" cy="1371600"/>
          </a:xfrm>
          <a:prstGeom prst="roundRect">
            <a:avLst>
              <a:gd name="adj" fmla="val 8000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INTEGRANTES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Bruna (RM 564310)  ·  Vinicius (RM 565846)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978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Outubro de 2026 · github.com/vsilva1997/orbital-sos-api</a:t>
            </a:r>
          </a:p>
        </p:txBody>
      </p:sp>
      <p:sp>
        <p:nvSpPr>
          <p:cNvPr id="9" name="Órbita"/>
          <p:cNvSpPr/>
          <p:nvPr/>
        </p:nvSpPr>
        <p:spPr>
          <a:xfrm>
            <a:off x="8549640" y="1417320"/>
            <a:ext cx="3017520" cy="3017520"/>
          </a:xfrm>
          <a:prstGeom prst="ellipse">
            <a:avLst/>
          </a:prstGeom>
          <a:noFill/>
          <a:ln w="50800">
            <a:solidFill>
              <a:srgbClr val="155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atélite"/>
          <p:cNvSpPr/>
          <p:nvPr/>
        </p:nvSpPr>
        <p:spPr>
          <a:xfrm>
            <a:off x="11155680" y="1874519"/>
            <a:ext cx="457200" cy="457200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OS"/>
          <p:cNvSpPr/>
          <p:nvPr/>
        </p:nvSpPr>
        <p:spPr>
          <a:xfrm>
            <a:off x="9372600" y="22402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E3B43"/>
                </a:solidFill>
                <a:latin typeface="Arial"/>
              </a:rPr>
              <a:t>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CONTEXTO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Conectando vítimas de desastres climáticos à ajuda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E2B2F"/>
                </a:solidFill>
                <a:latin typeface="Arial"/>
              </a:rPr>
              <a:t>A Orbital SOS API é o componente social do projeto Cidades ESGInteligentes: cadastra abrigos, alertas climáticos, áreas de risco, pedidos de socorro (SOS) e doações.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5943600" cy="3017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56032" indent="-201168">
              <a:spcAft>
                <a:spcPts val="1000"/>
              </a:spcAft>
              <a:buClr>
                <a:srgbClr val="E8572A"/>
              </a:buClr>
              <a:buFont typeface="Arial"/>
              <a:buChar char="•"/>
            </a:pPr>
            <a:r>
              <a:rPr sz="1600" b="0" i="0">
                <a:solidFill>
                  <a:srgbClr val="1E2B2F"/>
                </a:solidFill>
                <a:latin typeface="Arial"/>
              </a:rPr>
              <a:t>.NET 8 em Clean Architecture: API, Application, Domain e Infrastructure</a:t>
            </a:r>
          </a:p>
          <a:p>
            <a:pPr algn="l" marL="256032" indent="-201168">
              <a:spcAft>
                <a:spcPts val="1000"/>
              </a:spcAft>
              <a:buClr>
                <a:srgbClr val="E8572A"/>
              </a:buClr>
              <a:buFont typeface="Arial"/>
              <a:buChar char="•"/>
            </a:pPr>
            <a:r>
              <a:rPr sz="1600" b="0" i="0">
                <a:solidFill>
                  <a:srgbClr val="1E2B2F"/>
                </a:solidFill>
                <a:latin typeface="Arial"/>
              </a:rPr>
              <a:t>EF Core 8 com PostgreSQL (Supabase), autenticação JWT e Swagger</a:t>
            </a:r>
          </a:p>
          <a:p>
            <a:pPr algn="l" marL="256032" indent="-201168">
              <a:spcAft>
                <a:spcPts val="1000"/>
              </a:spcAft>
              <a:buClr>
                <a:srgbClr val="E8572A"/>
              </a:buClr>
              <a:buFont typeface="Arial"/>
              <a:buChar char="•"/>
            </a:pPr>
            <a:r>
              <a:rPr sz="1600" b="0" i="0">
                <a:solidFill>
                  <a:srgbClr val="1E2B2F"/>
                </a:solidFill>
                <a:latin typeface="Arial"/>
              </a:rPr>
              <a:t>Objetivo desta entrega: levar a API do código ao ar com Docker, pipeline CI/CD e dois ambientes na nuvem</a:t>
            </a:r>
          </a:p>
          <a:p>
            <a:pPr algn="l" marL="256032" indent="-201168">
              <a:spcAft>
                <a:spcPts val="1000"/>
              </a:spcAft>
              <a:buClr>
                <a:srgbClr val="E8572A"/>
              </a:buClr>
              <a:buFont typeface="Arial"/>
              <a:buChar char="•"/>
            </a:pPr>
            <a:r>
              <a:rPr sz="1600" b="0" i="0">
                <a:solidFill>
                  <a:srgbClr val="1E2B2F"/>
                </a:solidFill>
                <a:latin typeface="Arial"/>
              </a:rPr>
              <a:t>Tudo versionado no GitHub: código, Dockerfile, compose, pipeline e infraestrutura (render.yaml)</a:t>
            </a:r>
          </a:p>
        </p:txBody>
      </p:sp>
      <p:sp>
        <p:nvSpPr>
          <p:cNvPr id="6" name="Indicador 14"/>
          <p:cNvSpPr/>
          <p:nvPr/>
        </p:nvSpPr>
        <p:spPr>
          <a:xfrm>
            <a:off x="6949440" y="1508760"/>
            <a:ext cx="4663440" cy="1234440"/>
          </a:xfrm>
          <a:prstGeom prst="roundRect">
            <a:avLst>
              <a:gd name="adj" fmla="val 8888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1664207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8572A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664207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2B2F"/>
                </a:solidFill>
                <a:latin typeface="Arial"/>
              </a:rPr>
              <a:t>testes automatizados rodando em todo pull request</a:t>
            </a:r>
          </a:p>
        </p:txBody>
      </p:sp>
      <p:sp>
        <p:nvSpPr>
          <p:cNvPr id="9" name="Indicador 5"/>
          <p:cNvSpPr/>
          <p:nvPr/>
        </p:nvSpPr>
        <p:spPr>
          <a:xfrm>
            <a:off x="6949440" y="3017520"/>
            <a:ext cx="4663440" cy="1234440"/>
          </a:xfrm>
          <a:prstGeom prst="roundRect">
            <a:avLst>
              <a:gd name="adj" fmla="val 8888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3172968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8572A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172968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2B2F"/>
                </a:solidFill>
                <a:latin typeface="Arial"/>
              </a:rPr>
              <a:t>jobs no pipeline do GitHub Actions</a:t>
            </a:r>
          </a:p>
        </p:txBody>
      </p:sp>
      <p:sp>
        <p:nvSpPr>
          <p:cNvPr id="12" name="Indicador 2"/>
          <p:cNvSpPr/>
          <p:nvPr/>
        </p:nvSpPr>
        <p:spPr>
          <a:xfrm>
            <a:off x="6949440" y="4526279"/>
            <a:ext cx="4663440" cy="1234440"/>
          </a:xfrm>
          <a:prstGeom prst="roundRect">
            <a:avLst>
              <a:gd name="adj" fmla="val 8888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4681727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8572A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681727"/>
            <a:ext cx="306324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E2B2F"/>
                </a:solidFill>
                <a:latin typeface="Arial"/>
              </a:rPr>
              <a:t>ambientes na nuvem: staging e produção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PIPELINE CI/CD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Do pull request à produção com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6686C"/>
                </a:solidFill>
                <a:latin typeface="Arial"/>
              </a:rPr>
              <a:t>Staging: branch develop, deploy automático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feature/devops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branch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39696" y="242316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50592" y="192024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Pull request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build · testes · compose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41648" y="242316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52544" y="192024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42316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54496" y="192024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Imagem :sha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push no GHCR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45551" y="2423160"/>
            <a:ext cx="2176273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058400" y="192024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Deploy staging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smoke 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9659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automático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6686C"/>
                </a:solidFill>
                <a:latin typeface="Arial"/>
              </a:rPr>
              <a:t>Produção: branch main, com aprovação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develop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branch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39696" y="457200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50592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Pull request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build · testes · compose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41648" y="457200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2544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main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0" y="4572000"/>
            <a:ext cx="274320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54496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Imagem :sha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push no GHCR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45551" y="4572000"/>
            <a:ext cx="274321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56448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Aprovação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environment production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47503" y="4572000"/>
            <a:ext cx="274321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58400" y="4069080"/>
            <a:ext cx="1554480" cy="1005840"/>
          </a:xfrm>
          <a:prstGeom prst="roundRect">
            <a:avLst>
              <a:gd name="adj" fmla="val 10909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Deploy produção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smoke /health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Ferramenta: </a:t>
            </a:r>
            <a:r>
              <a:rPr sz="1500" b="0" i="0">
                <a:solidFill>
                  <a:srgbClr val="1E2B2F"/>
                </a:solidFill>
                <a:latin typeface="Arial"/>
              </a:rPr>
              <a:t>GitHub Actions   ·   </a:t>
            </a:r>
            <a:r>
              <a:rPr sz="1500" b="1" i="0">
                <a:solidFill>
                  <a:srgbClr val="1E2B2F"/>
                </a:solidFill>
                <a:latin typeface="Arial"/>
              </a:rPr>
              <a:t>Registro: </a:t>
            </a:r>
            <a:r>
              <a:rPr sz="1500" b="0" i="0">
                <a:solidFill>
                  <a:srgbClr val="1E2B2F"/>
                </a:solidFill>
                <a:latin typeface="Arial"/>
              </a:rPr>
              <a:t>GitHub Container Registry   ·   </a:t>
            </a:r>
            <a:r>
              <a:rPr sz="1500" b="1" i="0">
                <a:solidFill>
                  <a:srgbClr val="1E2B2F"/>
                </a:solidFill>
                <a:latin typeface="Arial"/>
              </a:rPr>
              <a:t>Hospedagem: </a:t>
            </a:r>
            <a:r>
              <a:rPr sz="1500" b="0" i="0">
                <a:solidFill>
                  <a:srgbClr val="1E2B2F"/>
                </a:solidFill>
                <a:latin typeface="Arial"/>
              </a:rPr>
              <a:t>Render + Supabase (PostgreSQL)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PIPELINE CI/CD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Cinco jobs, cada um com uma responsabilidade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40"/>
                <a:gridCol w="2331720"/>
                <a:gridCol w="6583680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Job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Quando roda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 que faz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build-test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PR e push em develop/main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Restore com lock file e cache do NuGet, build Release, testes xUnit (resultado .trx como artefato) e checagem de pacotes vulneráveis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compose-smoke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PR e push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Valida os 3 arquivos compose, sobe API + PostgreSQL 17 e testa health, swagger, register, login e admin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docker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Só em push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Build multi-stage com cache e push de ghcr.io/vsilva1997/orbital-sos-api:&lt;sha&gt;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deploy-staging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Push em develop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Deploy hook do Render com a imagem do SHA; espera o /health responder Healthy na versão nova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deploy-production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Push em main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Mesmo deploy, depois da aprovação manual no environment production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ógica do pipeline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513832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572A"/>
                </a:solidFill>
                <a:latin typeface="Arial"/>
              </a:rPr>
              <a:t>Lógica: </a:t>
            </a:r>
            <a:r>
              <a:rPr sz="1400" b="0" i="0">
                <a:solidFill>
                  <a:srgbClr val="1E2B2F"/>
                </a:solidFill>
                <a:latin typeface="Arial"/>
              </a:rPr>
              <a:t>o PR só valida. Depois do merge, a imagem é gerada uma vez por commit (tag = SHA) e o /health devolve essa versão: o smoke test só passa quando o deploy certo está no 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DOCKER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A mesma imagem roda no compose local e na nuvem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6686C"/>
                </a:solidFill>
                <a:latin typeface="Arial"/>
              </a:rPr>
              <a:t>Local: docker compose</a:t>
            </a:r>
          </a:p>
        </p:txBody>
      </p:sp>
      <p:sp>
        <p:nvSpPr>
          <p:cNvPr id="5" name="Rede orbital-net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name="adj" fmla="val 3157"/>
            </a:avLst>
          </a:prstGeom>
          <a:noFill/>
          <a:ln w="15875">
            <a:solidFill>
              <a:srgbClr val="8FB3A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Courier New"/>
              </a:rPr>
              <a:t>rede orbital-net (bridge)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2240280" cy="1417320"/>
          </a:xfrm>
          <a:prstGeom prst="roundRect">
            <a:avLst>
              <a:gd name="adj" fmla="val 7741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api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OrbitalSOS.API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porta 8080 · usuário app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HEALTHCHECK /health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86000"/>
            <a:ext cx="2240280" cy="1417320"/>
          </a:xfrm>
          <a:prstGeom prst="roundRect">
            <a:avLst>
              <a:gd name="adj" fmla="val 7741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db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PostgreSQL 17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healthcheck pg_isready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porta só em 127.0.0.1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2990088"/>
            <a:ext cx="493776" cy="0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03120" y="38404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depends_on: db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service_healthy</a:t>
            </a:r>
          </a:p>
        </p:txBody>
      </p:sp>
      <p:sp>
        <p:nvSpPr>
          <p:cNvPr id="11" name="Host"/>
          <p:cNvSpPr/>
          <p:nvPr/>
        </p:nvSpPr>
        <p:spPr>
          <a:xfrm>
            <a:off x="777240" y="4434840"/>
            <a:ext cx="2240280" cy="960120"/>
          </a:xfrm>
          <a:prstGeom prst="roundRect">
            <a:avLst>
              <a:gd name="adj" fmla="val 11428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98848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1E2B2F"/>
                </a:solidFill>
                <a:latin typeface="Arial"/>
              </a:rPr>
              <a:t>localhost:8080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1E2B2F"/>
                </a:solidFill>
                <a:latin typeface="Arial"/>
              </a:rPr>
              <a:t>Swagger e /health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897380" y="3730752"/>
            <a:ext cx="0" cy="67665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olume pg-data"/>
          <p:cNvSpPr/>
          <p:nvPr/>
        </p:nvSpPr>
        <p:spPr>
          <a:xfrm>
            <a:off x="3840480" y="4343400"/>
            <a:ext cx="1691640" cy="1143000"/>
          </a:xfrm>
          <a:prstGeom prst="can">
            <a:avLst/>
          </a:prstGeom>
          <a:solidFill>
            <a:srgbClr val="E8F3F1"/>
          </a:solidFill>
          <a:ln w="15875">
            <a:solidFill>
              <a:srgbClr val="8FB3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4681728"/>
            <a:ext cx="1965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E2B2F"/>
                </a:solidFill>
                <a:latin typeface="Arial"/>
              </a:rPr>
              <a:t>pg-data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/var/lib/postgresql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86300" y="3730752"/>
            <a:ext cx="0" cy="58521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92240" y="1371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6686C"/>
                </a:solidFill>
                <a:latin typeface="Arial"/>
              </a:rPr>
              <a:t>Nuvem: staging e produção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5120640" cy="914400"/>
          </a:xfrm>
          <a:prstGeom prst="roundRect">
            <a:avLst>
              <a:gd name="adj" fmla="val 12000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ghcr.io/vsilva1997/orbital-sos-api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CFE5E1"/>
                </a:solidFill>
                <a:latin typeface="Arial"/>
              </a:rPr>
              <a:t>tags :&lt;sha&gt; · :develop · :main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2004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Render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E2B2F"/>
                </a:solidFill>
                <a:latin typeface="Arial"/>
              </a:rPr>
              <a:t>Web Service Free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E2B2F"/>
                </a:solidFill>
                <a:latin typeface="Arial"/>
              </a:rPr>
              <a:t>ambiente Staging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48463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Supabase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schema staging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usuário orbital_staging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03819" y="2724912"/>
            <a:ext cx="0" cy="44805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703819" y="4325112"/>
            <a:ext cx="0" cy="49377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89720" y="320040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Render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E2B2F"/>
                </a:solidFill>
                <a:latin typeface="Arial"/>
              </a:rPr>
              <a:t>Web Service Free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E2B2F"/>
                </a:solidFill>
                <a:latin typeface="Arial"/>
              </a:rPr>
              <a:t>ambiente Production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4846320"/>
            <a:ext cx="2423160" cy="1005840"/>
          </a:xfrm>
          <a:prstGeom prst="roundRect">
            <a:avLst>
              <a:gd name="adj" fmla="val 10909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E2B2F"/>
                </a:solidFill>
                <a:latin typeface="Arial"/>
              </a:rPr>
              <a:t>Supabase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schema production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1E2B2F"/>
                </a:solidFill>
                <a:latin typeface="Arial"/>
              </a:rPr>
              <a:t>usuário orbital_prod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01300" y="2724912"/>
            <a:ext cx="0" cy="44805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401300" y="4325112"/>
            <a:ext cx="0" cy="493776"/>
          </a:xfrm>
          <a:prstGeom prst="line">
            <a:avLst/>
          </a:prstGeom>
          <a:ln w="25400">
            <a:solidFill>
              <a:srgbClr val="5668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DOCKER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Imagem enxuta, sem root e com health check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630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2B2F"/>
                </a:solidFill>
                <a:latin typeface="Arial"/>
              </a:rPr>
              <a:t>Multi-stage sdk:8.0 → aspnet:8.0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O SDK fica só no build; a imagem final leva apenas o runtime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423160"/>
            <a:ext cx="438912" cy="438912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2B2F"/>
                </a:solidFill>
                <a:latin typeface="Arial"/>
              </a:rPr>
              <a:t>Restore em camada separada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csproj e lock files primeiro: mudar código não baixa os pacotes de novo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37560"/>
            <a:ext cx="438912" cy="438912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918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2B2F"/>
                </a:solidFill>
                <a:latin typeface="Arial"/>
              </a:rPr>
              <a:t>Usuário não root e porta 8080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Padrão do .NET 8 (USER app); antes rodava como root na porta 80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51959"/>
            <a:ext cx="438912" cy="438912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2B2F"/>
                </a:solidFill>
                <a:latin typeface="Arial"/>
              </a:rPr>
              <a:t>HEALTHCHECK em /health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curl instalado só para isso; o /health testa a API e o banco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166359"/>
            <a:ext cx="438912" cy="438912"/>
          </a:xfrm>
          <a:prstGeom prst="ellipse">
            <a:avLst/>
          </a:prstGeom>
          <a:solidFill>
            <a:srgbClr val="E85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120640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E2B2F"/>
                </a:solidFill>
                <a:latin typeface="Arial"/>
              </a:rPr>
              <a:t>APP_VERSION = SHA do commit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Aparece no /health e o smoke test confere a versão no ar</a:t>
            </a:r>
          </a:p>
        </p:txBody>
      </p:sp>
      <p:sp>
        <p:nvSpPr>
          <p:cNvPr id="14" name="Imagem criada"/>
          <p:cNvSpPr/>
          <p:nvPr/>
        </p:nvSpPr>
        <p:spPr>
          <a:xfrm>
            <a:off x="6675120" y="14630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E8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554480"/>
            <a:ext cx="45720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572A"/>
                </a:solidFill>
                <a:latin typeface="Arial"/>
              </a:rPr>
              <a:t>Imagem criada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E2B2F"/>
                </a:solidFill>
                <a:latin typeface="Courier New"/>
              </a:rPr>
              <a:t>ghcr.io/vsilva1997/orbital-sos-api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6686C"/>
                </a:solidFill>
                <a:latin typeface="Arial"/>
              </a:rPr>
              <a:t>:&lt;sha&gt; (deploy) · :develop · :main</a:t>
            </a:r>
          </a:p>
        </p:txBody>
      </p:sp>
      <p:sp>
        <p:nvSpPr>
          <p:cNvPr id="16" name="Comandos"/>
          <p:cNvSpPr/>
          <p:nvPr/>
        </p:nvSpPr>
        <p:spPr>
          <a:xfrm>
            <a:off x="6675120" y="297180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0E3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3108960"/>
            <a:ext cx="457200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FC1B9"/>
                </a:solidFill>
                <a:latin typeface="Courier New"/>
              </a:rPr>
              <a:t># comandos usados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build -t orbital-sos-api:local .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compose up -d --build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compose ps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compose logs -f api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compose down -v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pull ghcr.io/vsilva1997/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  orbital-sos-api:main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FC1B9"/>
                </a:solidFill>
                <a:latin typeface="Courier New"/>
              </a:rPr>
              <a:t># simular staging localmente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compose -f docker-compose.yml \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-f docker-compose.staging.yml up -d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PIPELINE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Build e testes validados em todo pull request</a:t>
            </a:r>
          </a:p>
        </p:txBody>
      </p:sp>
      <p:pic>
        <p:nvPicPr>
          <p:cNvPr id="4" name="Picture 3" descr="01-pr-ch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6876"/>
            <a:ext cx="5394960" cy="3270006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PR feature/devops → develop com os checks verdes</a:t>
            </a:r>
          </a:p>
        </p:txBody>
      </p:sp>
      <p:pic>
        <p:nvPicPr>
          <p:cNvPr id="6" name="Picture 5" descr="03-testes-re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5934"/>
            <a:ext cx="5394960" cy="2791891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Resumo do job: 14/14 testes aprovados e artefato .trx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PIPELINE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Compose testado no CI e imagem publicada no GHCR</a:t>
            </a:r>
          </a:p>
        </p:txBody>
      </p:sp>
      <p:pic>
        <p:nvPicPr>
          <p:cNvPr id="4" name="Picture 3" descr="04-compose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0482"/>
            <a:ext cx="5394960" cy="316279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Job compose-smoke: containers healthy e smoke test OK</a:t>
            </a:r>
          </a:p>
        </p:txBody>
      </p:sp>
      <p:pic>
        <p:nvPicPr>
          <p:cNvPr id="6" name="Picture 5" descr="05-ghcr-im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6876"/>
            <a:ext cx="5394960" cy="3270006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Pacote no GHCR com as tags do SHA, develop e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DEPLOY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Cada merge publica no ambiente da sua branch</a:t>
            </a:r>
          </a:p>
        </p:txBody>
      </p:sp>
      <p:pic>
        <p:nvPicPr>
          <p:cNvPr id="4" name="Picture 3" descr="02-pipeline-devel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1312"/>
            <a:ext cx="5394960" cy="360113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Run da develop até o deploy em staging</a:t>
            </a:r>
          </a:p>
        </p:txBody>
      </p:sp>
      <p:pic>
        <p:nvPicPr>
          <p:cNvPr id="6" name="Picture 5" descr="07-pipeline-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6532"/>
            <a:ext cx="5394960" cy="3270694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Run da main até o deploy em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DEPLOY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Produção só recebe deploy após aprovação manual</a:t>
            </a:r>
          </a:p>
        </p:txBody>
      </p:sp>
      <p:pic>
        <p:nvPicPr>
          <p:cNvPr id="4" name="Picture 3" descr="06-aprovacao-prod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6532"/>
            <a:ext cx="5394960" cy="3270694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Review deployments no environment production</a:t>
            </a:r>
          </a:p>
        </p:txBody>
      </p:sp>
      <p:pic>
        <p:nvPicPr>
          <p:cNvPr id="6" name="Picture 5" descr="08-environ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6876"/>
            <a:ext cx="5394960" cy="3270006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Environments com regras de branch e revisor obrigatório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STAGING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Staging no ar com a versão do último merge na develop</a:t>
            </a:r>
          </a:p>
        </p:txBody>
      </p:sp>
      <p:pic>
        <p:nvPicPr>
          <p:cNvPr id="4" name="Picture 3" descr="09-staging-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0482"/>
            <a:ext cx="5394960" cy="316279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/health de staging: Healthy, Staging e SHA do commit</a:t>
            </a:r>
          </a:p>
        </p:txBody>
      </p:sp>
      <p:pic>
        <p:nvPicPr>
          <p:cNvPr id="6" name="Picture 5" descr="10-staging-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11312"/>
            <a:ext cx="5394960" cy="360113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Swagger de staging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PRODUÇÃO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Produção no ar, com register e login funcionando</a:t>
            </a:r>
          </a:p>
        </p:txBody>
      </p:sp>
      <p:pic>
        <p:nvPicPr>
          <p:cNvPr id="4" name="Picture 3" descr="11-producao-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0482"/>
            <a:ext cx="5394960" cy="316279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/health de produção: Healthy e Production</a:t>
            </a:r>
          </a:p>
        </p:txBody>
      </p:sp>
      <p:pic>
        <p:nvPicPr>
          <p:cNvPr id="6" name="Picture 5" descr="12-producao-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30482"/>
            <a:ext cx="5394960" cy="3162795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Register e login executados no Swagger de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EVIDÊNCIAS: NUVEM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Infraestrutura dos dois ambientes</a:t>
            </a:r>
          </a:p>
        </p:txBody>
      </p:sp>
      <p:pic>
        <p:nvPicPr>
          <p:cNvPr id="4" name="Picture 3" descr="13-render-serv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6532"/>
            <a:ext cx="5394960" cy="3270694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Render: serviços de staging e produção no ar</a:t>
            </a:r>
          </a:p>
        </p:txBody>
      </p:sp>
      <p:pic>
        <p:nvPicPr>
          <p:cNvPr id="6" name="Picture 5" descr="14-sup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6876"/>
            <a:ext cx="5394960" cy="3270006"/>
          </a:xfrm>
          <a:prstGeom prst="rect">
            <a:avLst/>
          </a:prstGeom>
          <a:ln w="9525">
            <a:solidFill>
              <a:srgbClr val="C9D9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17920" y="5852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6686C"/>
                </a:solidFill>
                <a:latin typeface="Arial"/>
              </a:rPr>
              <a:t>Supabase: schemas de staging e produção (plano Free)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DESAFIOS E SOLUÇÕES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Código: o projeto precisou de ajustes antes do pipeline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Desafio encontrado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Como foi resolvido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O projeto não compilava: faltava ImplicitUsings e a referência Application ↔ Infrastructure estava invertida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Habilitar ImplicitUsings e inverter a referência, sem mudar regra de negócio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Os 8 testes falhavam: Database.Migrate() não funciona com EF InMemory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Migrar só quando Database.IsRelational(); banco InMemory estável por factory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Senha do SA e chave JWT fixas no Git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Variáveis de ambiente (.env fora do Git, secrets no Render e no GitHub); valores antigos descartados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Qualquer pessoa podia se cadastrar como Admin (campo role no register)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Register sempre cria Usuario; Admin inicial via Admin__Email e Admin__Password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Pacotes com vulnerabilidades High (SqlClient, System.Text.Json)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Atualização para o patch 8.0.32 e checagem automática no pipeline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DESAFIOS E SOLUÇÕES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Infraestrutura: containers, CI e nuvem gratuita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9684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Desafio encontrado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Como foi resolvido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O Azure for Students não pôde ser ativado, e o SQL Server (2 GB, x86) não tem hospedagem gratuita fora dele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Troca para PostgreSQL: provider Npgsql, migration regerada, compose com postgres:17 e banco no Supabase Free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Container rodando como root na porta 80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USER app e porta 8080, padrão do .NET 8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Mac sem Docker instalado para testar o compose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Compose validado no runner do GitHub Actions em todo PR (job compose-smoke)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Plano Free do Supabase permite só 2 projetos ativos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Um projeto com schemas staging e production, cada um com usuário próprio e senha em hash SCRAM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Cold start: o Render dorme e o Supabase pausa após 7 dias sem uso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Retry no EF, smoke test com retry e health check diário agendado no GitHub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ubuntu-latest migraria para Ubuntu 26 na semana da entrega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Runner fixado em ubuntu-24.04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ção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8572A"/>
                </a:solidFill>
                <a:latin typeface="Arial"/>
              </a:rPr>
              <a:t>ENTREGA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E3B43"/>
                </a:solidFill>
                <a:latin typeface="Arial"/>
              </a:rPr>
              <a:t>Checklist de entrega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4389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52160"/>
                <a:gridCol w="1554480"/>
                <a:gridCol w="3657600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Onde</a:t>
                      </a:r>
                    </a:p>
                  </a:txBody>
                  <a:tcPr marL="91440" marR="91440" marT="45720" marB="45720" anchor="ctr">
                    <a:solidFill>
                      <a:srgbClr val="0E3B4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Projeto compactado em .ZIP com estrutura organizada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scripts/empacotar.sh → entrega.zip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Dockerfile funcional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Dockerfile (validado no pipeline)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docker-compose.yml ou arquivos Kubernetes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docker-compose*.yml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Pipeline com etapas de build, teste e deploy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.github/workflows/ci-cd.yml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README.md com instruções e prints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README.md + docs/evidencias/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Documentação técnica com evidências (PDF ou PPT)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docs/Documentacao_DevOps.pptx</a:t>
                      </a:r>
                    </a:p>
                  </a:txBody>
                  <a:tcPr marL="91440" marR="91440" marT="45720" marB="45720" anchor="ctr">
                    <a:solidFill>
                      <a:srgbClr val="E8F3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E2B2F"/>
                          </a:solidFill>
                          <a:latin typeface="Arial"/>
                        </a:rPr>
                        <a:t>Deploy realizado nos ambientes staging e produção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4F"/>
                          </a:solidFill>
                          <a:latin typeface="Arial"/>
                        </a:rPr>
                        <a:t>Concluído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E2B2F"/>
                          </a:solidFill>
                          <a:latin typeface="Arial"/>
                        </a:rPr>
                        <a:t>Render + Supabase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Orbital SOS API · Cidades ESGInteligentes · FIAP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0" y="6400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6686C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B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8572A"/>
                </a:solidFill>
                <a:latin typeface="Arial"/>
              </a:rPr>
              <a:t>ONDE VER FUNCIONANDO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Versionado, testado e publicado automaticamente</a:t>
            </a:r>
          </a:p>
        </p:txBody>
      </p:sp>
      <p:sp>
        <p:nvSpPr>
          <p:cNvPr id="4" name="Link Repositório"/>
          <p:cNvSpPr/>
          <p:nvPr/>
        </p:nvSpPr>
        <p:spPr>
          <a:xfrm>
            <a:off x="731520" y="278892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898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572A"/>
                </a:solidFill>
                <a:latin typeface="Arial"/>
              </a:rPr>
              <a:t>Repositório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89864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https://github.com/vsilva1997/orbital-sos-api</a:t>
            </a:r>
          </a:p>
        </p:txBody>
      </p:sp>
      <p:sp>
        <p:nvSpPr>
          <p:cNvPr id="7" name="Link Pipeline"/>
          <p:cNvSpPr/>
          <p:nvPr/>
        </p:nvSpPr>
        <p:spPr>
          <a:xfrm>
            <a:off x="731520" y="356616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675887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572A"/>
                </a:solidFill>
                <a:latin typeface="Arial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675887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https://github.com/vsilva1997/orbital-sos-api/actions</a:t>
            </a:r>
          </a:p>
        </p:txBody>
      </p:sp>
      <p:sp>
        <p:nvSpPr>
          <p:cNvPr id="10" name="Link Staging"/>
          <p:cNvSpPr/>
          <p:nvPr/>
        </p:nvSpPr>
        <p:spPr>
          <a:xfrm>
            <a:off x="731520" y="434340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5312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572A"/>
                </a:solidFill>
                <a:latin typeface="Arial"/>
              </a:rPr>
              <a:t>Staging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45312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https://orbital-sos-api-staging.onrender.com/swagger</a:t>
            </a:r>
          </a:p>
        </p:txBody>
      </p:sp>
      <p:sp>
        <p:nvSpPr>
          <p:cNvPr id="13" name="Link Produção"/>
          <p:cNvSpPr/>
          <p:nvPr/>
        </p:nvSpPr>
        <p:spPr>
          <a:xfrm>
            <a:off x="731520" y="5120640"/>
            <a:ext cx="10698480" cy="621792"/>
          </a:xfrm>
          <a:prstGeom prst="roundRect">
            <a:avLst>
              <a:gd name="adj" fmla="val 17647"/>
            </a:avLst>
          </a:prstGeom>
          <a:solidFill>
            <a:srgbClr val="155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3036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8572A"/>
                </a:solidFill>
                <a:latin typeface="Arial"/>
              </a:rPr>
              <a:t>Produção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23036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https://orbital-sos-api-prod.onrender.com/swagger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